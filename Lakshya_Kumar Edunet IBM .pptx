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31"/>
  </p:notesMasterIdLst>
  <p:sldIdLst>
    <p:sldId id="256" r:id="rId5"/>
    <p:sldId id="2146847054" r:id="rId6"/>
    <p:sldId id="262" r:id="rId7"/>
    <p:sldId id="263" r:id="rId8"/>
    <p:sldId id="265" r:id="rId9"/>
    <p:sldId id="266" r:id="rId10"/>
    <p:sldId id="2146847070" r:id="rId11"/>
    <p:sldId id="267" r:id="rId12"/>
    <p:sldId id="2146847056" r:id="rId13"/>
    <p:sldId id="2146847057" r:id="rId14"/>
    <p:sldId id="2146847058" r:id="rId15"/>
    <p:sldId id="2146847059" r:id="rId16"/>
    <p:sldId id="2146847060" r:id="rId17"/>
    <p:sldId id="2146847061" r:id="rId18"/>
    <p:sldId id="2146847062" r:id="rId19"/>
    <p:sldId id="2146847063" r:id="rId20"/>
    <p:sldId id="2146847064" r:id="rId21"/>
    <p:sldId id="2146847065" r:id="rId22"/>
    <p:sldId id="2146847066" r:id="rId23"/>
    <p:sldId id="2146847067" r:id="rId24"/>
    <p:sldId id="2146847068" r:id="rId25"/>
    <p:sldId id="2146847069" r:id="rId26"/>
    <p:sldId id="268" r:id="rId27"/>
    <p:sldId id="2146847055" r:id="rId28"/>
    <p:sldId id="2146847071" r:id="rId29"/>
    <p:sldId id="259"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BA97"/>
    <a:srgbClr val="8E6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9C2D01F-53DD-53CB-15F3-A71BB05CAA43}" v="11" dt="2025-08-25T05:49:29.56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5" d="100"/>
          <a:sy n="75" d="100"/>
        </p:scale>
        <p:origin x="874"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ableStyles" Target="tableStyles.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256A78-79A6-408F-8148-4F87BB81602D}" type="datetimeFigureOut">
              <a:rPr lang="en-IN" smtClean="0"/>
              <a:t>07-02-2026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254F1-4415-47BF-9E91-C5D4B9A33350}" type="slidenum">
              <a:rPr lang="en-IN" smtClean="0"/>
              <a:t>‹#›</a:t>
            </a:fld>
            <a:endParaRPr lang="en-IN"/>
          </a:p>
        </p:txBody>
      </p:sp>
    </p:spTree>
    <p:extLst>
      <p:ext uri="{BB962C8B-B14F-4D97-AF65-F5344CB8AC3E}">
        <p14:creationId xmlns:p14="http://schemas.microsoft.com/office/powerpoint/2010/main" val="538008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2/7/2026</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530296"/>
          </a:xfrm>
        </p:spPr>
        <p:txBody>
          <a:bodyPr/>
          <a:lstStyle/>
          <a:p>
            <a:r>
              <a:rPr lang="en-US"/>
              <a:t>Click to edit Master title style</a:t>
            </a:r>
          </a:p>
        </p:txBody>
      </p:sp>
      <p:sp>
        <p:nvSpPr>
          <p:cNvPr id="3" name="Content Placeholder 2"/>
          <p:cNvSpPr>
            <a:spLocks noGrp="1"/>
          </p:cNvSpPr>
          <p:nvPr>
            <p:ph idx="1"/>
          </p:nvPr>
        </p:nvSpPr>
        <p:spPr>
          <a:xfrm>
            <a:off x="581192" y="1302026"/>
            <a:ext cx="11029615" cy="4673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2/7/2026</a:t>
            </a:fld>
            <a:endParaRPr lang="en-US"/>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2/7/2026</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92855"/>
          </a:xfrm>
        </p:spPr>
        <p:txBody>
          <a:bodyPr/>
          <a:lstStyle/>
          <a:p>
            <a:r>
              <a:rPr lang="en-US"/>
              <a:t>Click to edit Master title style</a:t>
            </a:r>
          </a:p>
        </p:txBody>
      </p:sp>
      <p:sp>
        <p:nvSpPr>
          <p:cNvPr id="3" name="Content Placeholder 2"/>
          <p:cNvSpPr>
            <a:spLocks noGrp="1"/>
          </p:cNvSpPr>
          <p:nvPr>
            <p:ph sz="half" idx="1"/>
          </p:nvPr>
        </p:nvSpPr>
        <p:spPr>
          <a:xfrm>
            <a:off x="581193" y="1391479"/>
            <a:ext cx="5194767"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16039" y="1391479"/>
            <a:ext cx="5194769"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FFD690-9426-415D-8B65-26881E07B2D4}" type="datetime1">
              <a:rPr lang="en-US" smtClean="0"/>
              <a:t>2/7/2026</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4C4989A-474C-40DE-95B9-011C28B71673}" type="datetime1">
              <a:rPr lang="en-US" smtClean="0"/>
              <a:t>2/7/2026</a:t>
            </a:fld>
            <a:endParaRPr lang="en-US"/>
          </a:p>
        </p:txBody>
      </p:sp>
      <p:sp>
        <p:nvSpPr>
          <p:cNvPr id="8" name="Footer Placeholder 7"/>
          <p:cNvSpPr>
            <a:spLocks noGrp="1"/>
          </p:cNvSpPr>
          <p:nvPr>
            <p:ph type="ftr" sz="quarter" idx="11"/>
          </p:nvPr>
        </p:nvSpPr>
        <p:spPr>
          <a:xfrm>
            <a:off x="581192" y="6423914"/>
            <a:ext cx="691721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592246"/>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5DB4ED54-5B5E-4A04-93D3-5772E3CE3818}" type="datetime1">
              <a:rPr lang="en-US" smtClean="0"/>
              <a:t>2/7/2026</a:t>
            </a:fld>
            <a:endParaRPr lang="en-US"/>
          </a:p>
        </p:txBody>
      </p:sp>
      <p:sp>
        <p:nvSpPr>
          <p:cNvPr id="4" name="Footer Placeholder 3"/>
          <p:cNvSpPr>
            <a:spLocks noGrp="1"/>
          </p:cNvSpPr>
          <p:nvPr>
            <p:ph type="ftr" sz="quarter" idx="11"/>
          </p:nvPr>
        </p:nvSpPr>
        <p:spPr>
          <a:xfrm>
            <a:off x="581192" y="6423914"/>
            <a:ext cx="691721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2/7/2026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2/7/2026</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a:prstGeom prst="rect">
            <a:avLst/>
          </a:prstGeo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2/7/2026</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ED4963-E985-44C4-B8C4-FDD613B7C2F8}" type="datetime1">
              <a:rPr lang="en-US" smtClean="0"/>
              <a:t>2/7/2026</a:t>
            </a:fld>
            <a:endParaRPr lang="en-US"/>
          </a:p>
        </p:txBody>
      </p:sp>
      <p:sp>
        <p:nvSpPr>
          <p:cNvPr id="5" name="Footer Placeholder 4"/>
          <p:cNvSpPr>
            <a:spLocks noGrp="1"/>
          </p:cNvSpPr>
          <p:nvPr>
            <p:ph type="ftr" sz="quarter" idx="11"/>
          </p:nvPr>
        </p:nvSpPr>
        <p:spPr>
          <a:xfrm>
            <a:off x="581192" y="6423914"/>
            <a:ext cx="691721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2/7/2026</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557146"/>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1415198"/>
            <a:ext cx="11029616" cy="4572852"/>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2/7/2026</a:t>
            </a:fld>
            <a:endParaRPr lang="en-US"/>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8" name="Picture 7" descr="Logo&#10;&#10;Description automatically generated">
            <a:extLst>
              <a:ext uri="{FF2B5EF4-FFF2-40B4-BE49-F238E27FC236}">
                <a16:creationId xmlns:a16="http://schemas.microsoft.com/office/drawing/2014/main" id="{14A64E4D-8DED-7830-2955-1BE78C5B0655}"/>
              </a:ext>
            </a:extLst>
          </p:cNvPr>
          <p:cNvPicPr>
            <a:picLocks noChangeAspect="1"/>
          </p:cNvPicPr>
          <p:nvPr userDrawn="1"/>
        </p:nvPicPr>
        <p:blipFill>
          <a:blip r:embed="rId13"/>
          <a:stretch>
            <a:fillRect/>
          </a:stretch>
        </p:blipFill>
        <p:spPr>
          <a:xfrm>
            <a:off x="10485003" y="6437910"/>
            <a:ext cx="1125805" cy="365126"/>
          </a:xfrm>
          <a:prstGeom prst="rect">
            <a:avLst/>
          </a:prstGeom>
        </p:spPr>
      </p:pic>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11E26-4C38-41A6-9857-11032CEECD80}"/>
              </a:ext>
            </a:extLst>
          </p:cNvPr>
          <p:cNvSpPr>
            <a:spLocks noGrp="1"/>
          </p:cNvSpPr>
          <p:nvPr>
            <p:ph type="ctrTitle"/>
          </p:nvPr>
        </p:nvSpPr>
        <p:spPr>
          <a:xfrm>
            <a:off x="1359108" y="1821635"/>
            <a:ext cx="9144000" cy="977778"/>
          </a:xfrm>
        </p:spPr>
        <p:txBody>
          <a:bodyPr/>
          <a:lstStyle/>
          <a:p>
            <a:pPr algn="ctr"/>
            <a:r>
              <a:rPr lang="en-US" dirty="0"/>
              <a:t>Improved Source of Drinking Water </a:t>
            </a:r>
            <a:endParaRPr lang="en-US" b="1" dirty="0">
              <a:solidFill>
                <a:schemeClr val="accent1"/>
              </a:solidFill>
              <a:latin typeface="Arial"/>
              <a:cs typeface="Arial"/>
            </a:endParaRPr>
          </a:p>
        </p:txBody>
      </p:sp>
      <p:sp>
        <p:nvSpPr>
          <p:cNvPr id="3" name="TextBox 2"/>
          <p:cNvSpPr txBox="1"/>
          <p:nvPr/>
        </p:nvSpPr>
        <p:spPr>
          <a:xfrm>
            <a:off x="-329782" y="1034321"/>
            <a:ext cx="12726648" cy="584775"/>
          </a:xfrm>
          <a:prstGeom prst="rect">
            <a:avLst/>
          </a:prstGeom>
          <a:noFill/>
        </p:spPr>
        <p:txBody>
          <a:bodyPr wrap="square" lIns="91440" tIns="45720" rIns="91440" bIns="45720" rtlCol="0" anchor="t">
            <a:spAutoFit/>
          </a:bodyPr>
          <a:lstStyle/>
          <a:p>
            <a:pPr algn="ctr"/>
            <a:r>
              <a:rPr lang="en-US" sz="3200" b="1">
                <a:solidFill>
                  <a:schemeClr val="accent1">
                    <a:lumMod val="75000"/>
                  </a:schemeClr>
                </a:solidFill>
                <a:latin typeface="Arial"/>
                <a:cs typeface="Arial"/>
              </a:rPr>
              <a:t>CAPSTONE PROJECT</a:t>
            </a:r>
          </a:p>
        </p:txBody>
      </p:sp>
      <p:sp>
        <p:nvSpPr>
          <p:cNvPr id="4" name="TextBox 3"/>
          <p:cNvSpPr txBox="1"/>
          <p:nvPr/>
        </p:nvSpPr>
        <p:spPr>
          <a:xfrm>
            <a:off x="3645849" y="4500240"/>
            <a:ext cx="7980183" cy="1323439"/>
          </a:xfrm>
          <a:prstGeom prst="rect">
            <a:avLst/>
          </a:prstGeom>
          <a:noFill/>
        </p:spPr>
        <p:txBody>
          <a:bodyPr wrap="square" lIns="91440" tIns="45720" rIns="91440" bIns="45720" rtlCol="0" anchor="t">
            <a:spAutoFit/>
          </a:bodyPr>
          <a:lstStyle/>
          <a:p>
            <a:r>
              <a:rPr lang="en-US" sz="2000" b="1" dirty="0">
                <a:solidFill>
                  <a:schemeClr val="accent1">
                    <a:lumMod val="75000"/>
                  </a:schemeClr>
                </a:solidFill>
                <a:latin typeface="Arial" pitchFamily="34" charset="0"/>
                <a:cs typeface="Arial" pitchFamily="34" charset="0"/>
              </a:rPr>
              <a:t>Presented By:</a:t>
            </a:r>
          </a:p>
          <a:p>
            <a:pPr marL="457200" indent="-457200">
              <a:buAutoNum type="arabicPeriod"/>
            </a:pPr>
            <a:r>
              <a:rPr lang="en-US" sz="2000" b="1" dirty="0">
                <a:solidFill>
                  <a:schemeClr val="accent1">
                    <a:lumMod val="75000"/>
                  </a:schemeClr>
                </a:solidFill>
                <a:latin typeface="Arial"/>
                <a:cs typeface="Arial"/>
              </a:rPr>
              <a:t>Student Name- Lakshya Kumar</a:t>
            </a:r>
          </a:p>
          <a:p>
            <a:pPr marL="457200" indent="-457200">
              <a:buAutoNum type="arabicPeriod"/>
            </a:pPr>
            <a:r>
              <a:rPr lang="en-US" sz="2000" b="1" dirty="0">
                <a:solidFill>
                  <a:schemeClr val="accent1">
                    <a:lumMod val="75000"/>
                  </a:schemeClr>
                </a:solidFill>
                <a:latin typeface="Arial"/>
                <a:cs typeface="Arial"/>
              </a:rPr>
              <a:t>College Name- Haridwar University</a:t>
            </a:r>
          </a:p>
          <a:p>
            <a:pPr marL="457200" indent="-457200">
              <a:buAutoNum type="arabicPeriod"/>
            </a:pPr>
            <a:r>
              <a:rPr lang="en-US" sz="2000" b="1" dirty="0">
                <a:solidFill>
                  <a:schemeClr val="accent1">
                    <a:lumMod val="75000"/>
                  </a:schemeClr>
                </a:solidFill>
                <a:latin typeface="Arial"/>
                <a:cs typeface="Arial"/>
              </a:rPr>
              <a:t>Department- CSE AIML</a:t>
            </a:r>
          </a:p>
        </p:txBody>
      </p:sp>
    </p:spTree>
    <p:extLst>
      <p:ext uri="{BB962C8B-B14F-4D97-AF65-F5344CB8AC3E}">
        <p14:creationId xmlns:p14="http://schemas.microsoft.com/office/powerpoint/2010/main" val="953325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FEB4C-F209-4AE7-AA2B-B3C26CE2C51D}"/>
              </a:ext>
            </a:extLst>
          </p:cNvPr>
          <p:cNvSpPr>
            <a:spLocks noGrp="1"/>
          </p:cNvSpPr>
          <p:nvPr>
            <p:ph type="title"/>
          </p:nvPr>
        </p:nvSpPr>
        <p:spPr>
          <a:xfrm>
            <a:off x="849573" y="558468"/>
            <a:ext cx="10515600" cy="1325563"/>
          </a:xfrm>
        </p:spPr>
        <p:txBody>
          <a:bodyPr/>
          <a:lstStyle/>
          <a:p>
            <a:r>
              <a:rPr lang="en-US" b="1">
                <a:solidFill>
                  <a:srgbClr val="002060"/>
                </a:solidFill>
                <a:latin typeface="Arial" panose="020B0604020202020204" pitchFamily="34" charset="0"/>
                <a:cs typeface="Arial" panose="020B0604020202020204" pitchFamily="34" charset="0"/>
              </a:rPr>
              <a:t>OUTLINE</a:t>
            </a:r>
          </a:p>
        </p:txBody>
      </p:sp>
      <p:sp>
        <p:nvSpPr>
          <p:cNvPr id="3" name="Content Placeholder 2">
            <a:extLst>
              <a:ext uri="{FF2B5EF4-FFF2-40B4-BE49-F238E27FC236}">
                <a16:creationId xmlns:a16="http://schemas.microsoft.com/office/drawing/2014/main" id="{B2678641-EEA3-4EC4-BF39-4075B0C120E8}"/>
              </a:ext>
            </a:extLst>
          </p:cNvPr>
          <p:cNvSpPr>
            <a:spLocks noGrp="1"/>
          </p:cNvSpPr>
          <p:nvPr>
            <p:ph idx="1"/>
          </p:nvPr>
        </p:nvSpPr>
        <p:spPr>
          <a:xfrm>
            <a:off x="838200" y="1618938"/>
            <a:ext cx="11019020" cy="5239062"/>
          </a:xfrm>
        </p:spPr>
        <p:txBody>
          <a:bodyPr vert="horz" lIns="91440" tIns="45720" rIns="91440" bIns="45720" rtlCol="0" anchor="t">
            <a:noAutofit/>
          </a:bodyPr>
          <a:lstStyle/>
          <a:p>
            <a:pPr marL="0" indent="0">
              <a:buNone/>
            </a:pPr>
            <a:r>
              <a:rPr lang="en-US" sz="2000" b="1" dirty="0">
                <a:latin typeface="Arial"/>
                <a:ea typeface="+mn-lt"/>
                <a:cs typeface="Arial"/>
              </a:rPr>
              <a:t>  </a:t>
            </a:r>
            <a:endParaRPr lang="en-US" dirty="0">
              <a:latin typeface="Arial"/>
              <a:cs typeface="Arial"/>
            </a:endParaRPr>
          </a:p>
          <a:p>
            <a:pPr marL="305435" indent="-305435"/>
            <a:r>
              <a:rPr lang="en-US" sz="2000" b="1" dirty="0">
                <a:latin typeface="Arial"/>
                <a:ea typeface="+mn-lt"/>
                <a:cs typeface="Arial"/>
              </a:rPr>
              <a:t>Problem Statement </a:t>
            </a:r>
            <a:r>
              <a:rPr lang="en-US" sz="2000" dirty="0">
                <a:latin typeface="Arial"/>
                <a:ea typeface="+mn-lt"/>
                <a:cs typeface="Arial"/>
              </a:rPr>
              <a:t>(Should not include solution)</a:t>
            </a:r>
            <a:endParaRPr lang="en-US" dirty="0">
              <a:latin typeface="Arial"/>
              <a:cs typeface="Arial"/>
            </a:endParaRPr>
          </a:p>
          <a:p>
            <a:pPr marL="305435" indent="-305435"/>
            <a:r>
              <a:rPr lang="en-US" sz="2000" b="1" dirty="0">
                <a:latin typeface="Arial"/>
                <a:ea typeface="+mn-lt"/>
                <a:cs typeface="Arial"/>
              </a:rPr>
              <a:t>Proposed System/Solution</a:t>
            </a:r>
            <a:endParaRPr lang="en-US" dirty="0">
              <a:latin typeface="Arial"/>
              <a:cs typeface="Arial"/>
            </a:endParaRPr>
          </a:p>
          <a:p>
            <a:pPr marL="305435" indent="-305435"/>
            <a:r>
              <a:rPr lang="en-US" sz="2000" b="1" dirty="0">
                <a:latin typeface="Arial"/>
                <a:ea typeface="+mn-lt"/>
                <a:cs typeface="Calibri"/>
              </a:rPr>
              <a:t>System </a:t>
            </a:r>
            <a:r>
              <a:rPr lang="en-US" sz="2000" b="1" dirty="0">
                <a:latin typeface="Arial"/>
                <a:ea typeface="+mn-lt"/>
                <a:cs typeface="+mn-lt"/>
              </a:rPr>
              <a:t>Development Approach </a:t>
            </a:r>
            <a:r>
              <a:rPr lang="en-US" sz="2000" dirty="0">
                <a:latin typeface="Arial"/>
                <a:ea typeface="+mn-lt"/>
                <a:cs typeface="+mn-lt"/>
              </a:rPr>
              <a:t>(Technology Used) </a:t>
            </a:r>
            <a:endParaRPr lang="en-US" dirty="0">
              <a:latin typeface="Arial"/>
              <a:ea typeface="+mn-lt"/>
              <a:cs typeface="+mn-lt"/>
            </a:endParaRPr>
          </a:p>
          <a:p>
            <a:pPr marL="305435" indent="-305435"/>
            <a:r>
              <a:rPr lang="en-US" sz="2000" b="1" dirty="0">
                <a:latin typeface="Arial"/>
                <a:ea typeface="+mn-lt"/>
                <a:cs typeface="+mn-lt"/>
              </a:rPr>
              <a:t>Algorithm &amp; Deployment  </a:t>
            </a:r>
            <a:endParaRPr lang="en-US" dirty="0">
              <a:latin typeface="Arial"/>
              <a:cs typeface="Calibri"/>
            </a:endParaRPr>
          </a:p>
          <a:p>
            <a:pPr marL="305435" indent="-305435"/>
            <a:r>
              <a:rPr lang="en-US" sz="2000" b="1" dirty="0">
                <a:latin typeface="Arial"/>
                <a:ea typeface="+mn-lt"/>
                <a:cs typeface="Arial"/>
              </a:rPr>
              <a:t>Result (Output Image)</a:t>
            </a:r>
          </a:p>
          <a:p>
            <a:pPr marL="305435" indent="-305435"/>
            <a:r>
              <a:rPr lang="en-US" sz="2000" b="1" dirty="0">
                <a:latin typeface="Arial"/>
                <a:ea typeface="+mn-lt"/>
                <a:cs typeface="Arial"/>
              </a:rPr>
              <a:t>Conclusion</a:t>
            </a:r>
            <a:endParaRPr lang="en-US" dirty="0">
              <a:latin typeface="Arial"/>
              <a:cs typeface="Arial"/>
            </a:endParaRPr>
          </a:p>
          <a:p>
            <a:pPr marL="305435" indent="-305435"/>
            <a:r>
              <a:rPr lang="en-US" sz="2000" b="1" dirty="0">
                <a:latin typeface="Arial"/>
                <a:ea typeface="+mn-lt"/>
                <a:cs typeface="Arial"/>
              </a:rPr>
              <a:t>Future Scope</a:t>
            </a:r>
          </a:p>
          <a:p>
            <a:pPr marL="305435" indent="-305435"/>
            <a:r>
              <a:rPr lang="en-US" sz="2000" b="1" dirty="0">
                <a:latin typeface="Arial"/>
                <a:ea typeface="+mn-lt"/>
                <a:cs typeface="Arial"/>
              </a:rPr>
              <a:t>References</a:t>
            </a:r>
            <a:endParaRPr lang="en-US" dirty="0">
              <a:latin typeface="Arial"/>
              <a:cs typeface="Arial"/>
            </a:endParaRPr>
          </a:p>
          <a:p>
            <a:pPr marL="305435" indent="-305435"/>
            <a:endParaRPr lang="en-US">
              <a:latin typeface="Arial"/>
              <a:cs typeface="Arial"/>
            </a:endParaRPr>
          </a:p>
        </p:txBody>
      </p:sp>
    </p:spTree>
    <p:extLst>
      <p:ext uri="{BB962C8B-B14F-4D97-AF65-F5344CB8AC3E}">
        <p14:creationId xmlns:p14="http://schemas.microsoft.com/office/powerpoint/2010/main" val="2900153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panose="020B0604020202020204" pitchFamily="34" charset="0"/>
                <a:cs typeface="Arial" panose="020B0604020202020204" pitchFamily="34" charset="0"/>
              </a:rPr>
              <a:t>Problem Statement</a:t>
            </a:r>
            <a:endParaRPr lang="en-US" sz="4400"/>
          </a:p>
        </p:txBody>
      </p:sp>
      <p:sp>
        <p:nvSpPr>
          <p:cNvPr id="2" name="Content Placeholder 1">
            <a:extLst>
              <a:ext uri="{FF2B5EF4-FFF2-40B4-BE49-F238E27FC236}">
                <a16:creationId xmlns:a16="http://schemas.microsoft.com/office/drawing/2014/main" id="{8FEE4A9C-3F57-7DA7-91FD-715C3FB47F93}"/>
              </a:ext>
            </a:extLst>
          </p:cNvPr>
          <p:cNvSpPr>
            <a:spLocks noGrp="1"/>
          </p:cNvSpPr>
          <p:nvPr>
            <p:ph idx="1"/>
          </p:nvPr>
        </p:nvSpPr>
        <p:spPr>
          <a:xfrm>
            <a:off x="452403" y="1237632"/>
            <a:ext cx="11029615" cy="4673324"/>
          </a:xfrm>
        </p:spPr>
        <p:txBody>
          <a:bodyPr/>
          <a:lstStyle/>
          <a:p>
            <a:r>
              <a:rPr lang="en-US" dirty="0"/>
              <a:t>Access to safe and improved drinking water remains a major challenge in India, particularly in rural, remote, and socio-economically disadvantaged regions. Despite national initiatives and progress under the Sustainable Development Goals (SDGs), significant inequalities persist across states and population groups. Limited access to improved drinking water sources not only affects public health but also influences living standards, migration patterns, and the adoption of clean cooking fuels.</a:t>
            </a:r>
          </a:p>
          <a:p>
            <a:r>
              <a:rPr lang="en-US" dirty="0"/>
              <a:t>This project focuses on analyzing data from the </a:t>
            </a:r>
            <a:r>
              <a:rPr lang="en-US" b="1" dirty="0"/>
              <a:t>78th Round of the Multiple Indicator Survey (MIS)</a:t>
            </a:r>
            <a:r>
              <a:rPr lang="en-US" dirty="0"/>
              <a:t> to evaluate the proportion of the population with access to improved drinking water sources. Additionally, it examines related socio-economic indicators such as the use of clean cooking fuel and migration trends to understand broader developmental linkages. The absence of granular, data-driven insights makes it difficult for policymakers to identify high-risk regions and prioritize interventions effectively.</a:t>
            </a:r>
          </a:p>
          <a:p>
            <a:r>
              <a:rPr lang="en-US" dirty="0"/>
              <a:t>The problem, therefore, lies in the lack of integrated analytical assessment that highlights regional disparities, underlying patterns, and correlations between water access and associated socio-economic factors. Addressing this gap through systematic data analysis can support evidence-based policymaking aimed at ensuring equitable and sustainable access to safe drinking water for all.</a:t>
            </a:r>
          </a:p>
        </p:txBody>
      </p:sp>
    </p:spTree>
    <p:extLst>
      <p:ext uri="{BB962C8B-B14F-4D97-AF65-F5344CB8AC3E}">
        <p14:creationId xmlns:p14="http://schemas.microsoft.com/office/powerpoint/2010/main" val="1186421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panose="020B0604020202020204" pitchFamily="34" charset="0"/>
                <a:cs typeface="Arial" panose="020B0604020202020204" pitchFamily="34" charset="0"/>
              </a:rPr>
              <a:t>Proposed Solution</a:t>
            </a:r>
            <a:endParaRPr lang="en-US" sz="4400" dirty="0"/>
          </a:p>
        </p:txBody>
      </p:sp>
      <p:sp>
        <p:nvSpPr>
          <p:cNvPr id="2" name="Content Placeholder 1">
            <a:extLst>
              <a:ext uri="{FF2B5EF4-FFF2-40B4-BE49-F238E27FC236}">
                <a16:creationId xmlns:a16="http://schemas.microsoft.com/office/drawing/2014/main" id="{E041FD9D-DF07-9C37-1E61-1D920E0EF1D4}"/>
              </a:ext>
            </a:extLst>
          </p:cNvPr>
          <p:cNvSpPr>
            <a:spLocks noGrp="1"/>
          </p:cNvSpPr>
          <p:nvPr>
            <p:ph idx="1"/>
          </p:nvPr>
        </p:nvSpPr>
        <p:spPr>
          <a:xfrm>
            <a:off x="441671" y="1087378"/>
            <a:ext cx="11613485" cy="5563973"/>
          </a:xfrm>
        </p:spPr>
        <p:txBody>
          <a:bodyPr vert="horz" lIns="91440" tIns="45720" rIns="91440" bIns="45720" rtlCol="0" anchor="ctr">
            <a:noAutofit/>
          </a:bodyPr>
          <a:lstStyle/>
          <a:p>
            <a:r>
              <a:rPr lang="en-US" dirty="0"/>
              <a:t>The proposed solution leverages </a:t>
            </a:r>
            <a:r>
              <a:rPr lang="en-US" b="1" dirty="0"/>
              <a:t>IBM Cloud</a:t>
            </a:r>
            <a:r>
              <a:rPr lang="en-US" dirty="0"/>
              <a:t> and </a:t>
            </a:r>
            <a:r>
              <a:rPr lang="en-US" b="1" dirty="0"/>
              <a:t>watsonx.ai Studio</a:t>
            </a:r>
            <a:r>
              <a:rPr lang="en-US" dirty="0"/>
              <a:t> to develop a data-driven analytical system that evaluates access to improved drinking water sources across India. Using data from the </a:t>
            </a:r>
            <a:r>
              <a:rPr lang="en-US" b="1" dirty="0"/>
              <a:t>78th Round of the Multiple Indicator Survey (MIS)</a:t>
            </a:r>
            <a:r>
              <a:rPr lang="en-US" dirty="0"/>
              <a:t>, the system performs exploratory data analysis and AI-assisted insights generation to identify regional disparities and socio-economic patterns related to drinking water availability.</a:t>
            </a:r>
          </a:p>
          <a:p>
            <a:r>
              <a:rPr lang="en-US" dirty="0"/>
              <a:t>The solution integrates multiple indicators—including access to improved drinking water, use of clean cooking fuel, and migration trends—to uncover correlations and hidden trends that influence water accessibility. Watsonx.ai Studio is utilized for data preprocessing, visualization, and intelligent analysis, enabling efficient handling of large-scale survey data and automated insight generation.</a:t>
            </a:r>
          </a:p>
          <a:p>
            <a:r>
              <a:rPr lang="en-US" dirty="0"/>
              <a:t>By deploying the analytical workflow on IBM Cloud, the solution ensures scalability, reliability, and secure data management. The results are presented through interactive dashboards and summarized insights that allow policymakers, researchers, and stakeholders to easily identify high-risk regions and priority areas for intervention.</a:t>
            </a:r>
          </a:p>
          <a:p>
            <a:r>
              <a:rPr lang="en-US" dirty="0"/>
              <a:t>Overall, this solution transforms raw survey data into actionable intelligence, supporting </a:t>
            </a:r>
            <a:r>
              <a:rPr lang="en-US" b="1" dirty="0"/>
              <a:t>evidence-based policymaking</a:t>
            </a:r>
            <a:r>
              <a:rPr lang="en-US" dirty="0"/>
              <a:t> aimed at reducing inequalities and ensuring equitable, sustainable access to safe drinking water across all regions of India.</a:t>
            </a:r>
          </a:p>
          <a:p>
            <a:pPr marL="0" indent="0">
              <a:buNone/>
            </a:pPr>
            <a:endParaRPr lang="en-IN" dirty="0"/>
          </a:p>
        </p:txBody>
      </p:sp>
    </p:spTree>
    <p:extLst>
      <p:ext uri="{BB962C8B-B14F-4D97-AF65-F5344CB8AC3E}">
        <p14:creationId xmlns:p14="http://schemas.microsoft.com/office/powerpoint/2010/main" val="32103584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581192" y="662572"/>
            <a:ext cx="11029616" cy="530296"/>
          </a:xfrm>
        </p:spPr>
        <p:txBody>
          <a:bodyPr>
            <a:normAutofit fontScale="90000"/>
          </a:bodyPr>
          <a:lstStyle/>
          <a:p>
            <a:r>
              <a:rPr lang="en-US" sz="4400" b="1">
                <a:solidFill>
                  <a:schemeClr val="accent1"/>
                </a:solidFill>
                <a:latin typeface="Arial"/>
                <a:ea typeface="+mj-lt"/>
                <a:cs typeface="Arial"/>
              </a:rPr>
              <a:t>System  Approach</a:t>
            </a:r>
            <a:endParaRPr lang="en-US" sz="4400">
              <a:solidFill>
                <a:schemeClr val="accent1"/>
              </a:solidFill>
              <a:latin typeface="Calibri Light"/>
              <a:cs typeface="Calibri Light"/>
            </a:endParaRPr>
          </a:p>
        </p:txBody>
      </p:sp>
      <p:sp>
        <p:nvSpPr>
          <p:cNvPr id="2" name="Content Placeholder 1">
            <a:extLst>
              <a:ext uri="{FF2B5EF4-FFF2-40B4-BE49-F238E27FC236}">
                <a16:creationId xmlns:a16="http://schemas.microsoft.com/office/drawing/2014/main" id="{C4FFAF3C-BA60-9181-132C-C36C403AAEA7}"/>
              </a:ext>
            </a:extLst>
          </p:cNvPr>
          <p:cNvSpPr>
            <a:spLocks noGrp="1"/>
          </p:cNvSpPr>
          <p:nvPr>
            <p:ph idx="1"/>
          </p:nvPr>
        </p:nvSpPr>
        <p:spPr/>
        <p:txBody>
          <a:bodyPr>
            <a:normAutofit fontScale="92500" lnSpcReduction="10000"/>
          </a:bodyPr>
          <a:lstStyle/>
          <a:p>
            <a:r>
              <a:rPr lang="en-US" sz="1800" b="1" dirty="0"/>
              <a:t>Input:</a:t>
            </a:r>
            <a:br>
              <a:rPr lang="en-US" sz="1800" dirty="0"/>
            </a:br>
            <a:r>
              <a:rPr lang="en-US" sz="1800" dirty="0"/>
              <a:t>78th Round Multiple Indicator Survey (MIS) data on access to improved drinking water sources, clean cooking fuel usage, migration patterns, and socio-economic indicators across Indian states</a:t>
            </a:r>
          </a:p>
          <a:p>
            <a:r>
              <a:rPr lang="en-US" sz="1800" b="1" dirty="0"/>
              <a:t>Process:</a:t>
            </a:r>
            <a:br>
              <a:rPr lang="en-US" sz="1800" dirty="0"/>
            </a:br>
            <a:r>
              <a:rPr lang="en-US" sz="1800" dirty="0"/>
              <a:t>Data cleaning, preprocessing, feature selection, and integration using </a:t>
            </a:r>
            <a:r>
              <a:rPr lang="en-US" sz="1800" b="1" dirty="0" err="1"/>
              <a:t>Watsonx</a:t>
            </a:r>
            <a:r>
              <a:rPr lang="en-US" sz="1800" b="1" dirty="0"/>
              <a:t> AI Studio on IBM Cloud</a:t>
            </a:r>
            <a:r>
              <a:rPr lang="en-US" sz="1800" dirty="0"/>
              <a:t>, followed by exploratory and statistical analysis</a:t>
            </a:r>
          </a:p>
          <a:p>
            <a:r>
              <a:rPr lang="en-US" sz="1800" b="1" dirty="0"/>
              <a:t>Analysis:</a:t>
            </a:r>
            <a:br>
              <a:rPr lang="en-US" sz="1800" dirty="0"/>
            </a:br>
            <a:r>
              <a:rPr lang="en-US" sz="1800" dirty="0"/>
              <a:t>Assessment of state-wise and socio-economic disparities, identification of patterns in access to improved drinking water, and correlation with clean cooking fuel usage and migration trends</a:t>
            </a:r>
          </a:p>
          <a:p>
            <a:r>
              <a:rPr lang="en-US" sz="1800" b="1" dirty="0"/>
              <a:t>Output:</a:t>
            </a:r>
            <a:br>
              <a:rPr lang="en-US" sz="1800" dirty="0"/>
            </a:br>
            <a:r>
              <a:rPr lang="en-US" sz="1800" dirty="0"/>
              <a:t>Data-driven insights on inequalities in drinking water access and supporting indicators, with evaluation of India’s progress toward relevant </a:t>
            </a:r>
            <a:r>
              <a:rPr lang="en-US" sz="1800" b="1" dirty="0"/>
              <a:t>SDG targets (SDG 6 &amp; SDG 7)</a:t>
            </a:r>
            <a:endParaRPr lang="en-US" sz="1800" dirty="0"/>
          </a:p>
          <a:p>
            <a:r>
              <a:rPr lang="en-US" sz="1800" b="1" dirty="0"/>
              <a:t>Outcome:</a:t>
            </a:r>
            <a:br>
              <a:rPr lang="en-US" sz="1800" dirty="0"/>
            </a:br>
            <a:r>
              <a:rPr lang="en-US" sz="1800" dirty="0"/>
              <a:t>Evidence-based recommendations to support inclusive water resource planning and policy interventions aimed at ensuring equitable access to safe drinking water across regions</a:t>
            </a:r>
          </a:p>
        </p:txBody>
      </p:sp>
    </p:spTree>
    <p:extLst>
      <p:ext uri="{BB962C8B-B14F-4D97-AF65-F5344CB8AC3E}">
        <p14:creationId xmlns:p14="http://schemas.microsoft.com/office/powerpoint/2010/main" val="3202024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a:ea typeface="+mj-lt"/>
                <a:cs typeface="Arial"/>
              </a:rPr>
              <a:t>Algorithm &amp; Deployment</a:t>
            </a:r>
            <a:endParaRPr lang="en-US" dirty="0"/>
          </a:p>
        </p:txBody>
      </p:sp>
      <p:sp>
        <p:nvSpPr>
          <p:cNvPr id="2" name="Content Placeholder 1">
            <a:extLst>
              <a:ext uri="{FF2B5EF4-FFF2-40B4-BE49-F238E27FC236}">
                <a16:creationId xmlns:a16="http://schemas.microsoft.com/office/drawing/2014/main" id="{F7F0871F-2198-9E37-C96F-3611AA199B60}"/>
              </a:ext>
            </a:extLst>
          </p:cNvPr>
          <p:cNvSpPr>
            <a:spLocks noGrp="1"/>
          </p:cNvSpPr>
          <p:nvPr>
            <p:ph idx="1"/>
          </p:nvPr>
        </p:nvSpPr>
        <p:spPr/>
        <p:txBody>
          <a:bodyPr/>
          <a:lstStyle/>
          <a:p>
            <a:r>
              <a:rPr lang="en-IN" sz="1400" b="1" dirty="0"/>
              <a:t>Algorithm</a:t>
            </a:r>
          </a:p>
          <a:p>
            <a:r>
              <a:rPr lang="en-IN" sz="1400" dirty="0"/>
              <a:t>Preprocess MIS (78th Round) data related to access to improved drinking water sources</a:t>
            </a:r>
          </a:p>
          <a:p>
            <a:r>
              <a:rPr lang="en-IN" sz="1400" dirty="0"/>
              <a:t>Clean, normalize, and integrate socio-economic indicators, clean cooking fuel usage, and migration data</a:t>
            </a:r>
          </a:p>
          <a:p>
            <a:r>
              <a:rPr lang="en-IN" sz="1400" dirty="0"/>
              <a:t>Perform exploratory data analysis and statistical </a:t>
            </a:r>
            <a:r>
              <a:rPr lang="en-IN" sz="1400" dirty="0" err="1"/>
              <a:t>modeling</a:t>
            </a:r>
            <a:endParaRPr lang="en-IN" sz="1400" dirty="0"/>
          </a:p>
          <a:p>
            <a:r>
              <a:rPr lang="en-IN" sz="1400" dirty="0"/>
              <a:t>Apply regression and correlation analysis to identify disparities and trends</a:t>
            </a:r>
          </a:p>
          <a:p>
            <a:r>
              <a:rPr lang="en-IN" sz="1400" dirty="0" err="1"/>
              <a:t>Analyze</a:t>
            </a:r>
            <a:r>
              <a:rPr lang="en-IN" sz="1400" dirty="0"/>
              <a:t> state-wise and demographic patterns aligned with </a:t>
            </a:r>
            <a:r>
              <a:rPr lang="en-IN" sz="1400" b="1" dirty="0"/>
              <a:t>SDG 6 (Clean Water and Sanitation)</a:t>
            </a:r>
            <a:endParaRPr lang="en-IN" sz="1400" dirty="0"/>
          </a:p>
          <a:p>
            <a:br>
              <a:rPr lang="en-IN" sz="1400" dirty="0"/>
            </a:br>
            <a:endParaRPr lang="en-IN" sz="1400" dirty="0"/>
          </a:p>
          <a:p>
            <a:r>
              <a:rPr lang="en-IN" sz="1400" b="1" dirty="0"/>
              <a:t>Deployment on IBM Cloud</a:t>
            </a:r>
          </a:p>
          <a:p>
            <a:r>
              <a:rPr lang="en-IN" sz="1400" dirty="0"/>
              <a:t>Store raw and processed datasets in </a:t>
            </a:r>
            <a:r>
              <a:rPr lang="en-IN" sz="1400" b="1" dirty="0"/>
              <a:t>IBM Cloud Object Storage</a:t>
            </a:r>
            <a:endParaRPr lang="en-IN" sz="1400" dirty="0"/>
          </a:p>
          <a:p>
            <a:r>
              <a:rPr lang="en-IN" sz="1400" dirty="0"/>
              <a:t>Conduct data analysis and model development using </a:t>
            </a:r>
            <a:r>
              <a:rPr lang="en-IN" sz="1400" b="1" dirty="0" err="1"/>
              <a:t>Watsonx</a:t>
            </a:r>
            <a:r>
              <a:rPr lang="en-IN" sz="1400" b="1" dirty="0"/>
              <a:t> AI Studio (IBM Watson Studio)</a:t>
            </a:r>
            <a:endParaRPr lang="en-IN" sz="1400" dirty="0"/>
          </a:p>
          <a:p>
            <a:r>
              <a:rPr lang="en-IN" sz="1400" dirty="0"/>
              <a:t>Deploy analytical models and insights as APIs using </a:t>
            </a:r>
            <a:r>
              <a:rPr lang="en-IN" sz="1400" b="1" dirty="0"/>
              <a:t>IBM Cloud Functions</a:t>
            </a:r>
            <a:endParaRPr lang="en-IN" sz="1400" dirty="0"/>
          </a:p>
          <a:p>
            <a:r>
              <a:rPr lang="en-IN" sz="1400" dirty="0"/>
              <a:t>Create interactive visualizations and dashboards using </a:t>
            </a:r>
            <a:r>
              <a:rPr lang="en-IN" sz="1400" b="1" dirty="0"/>
              <a:t>IBM Cognos Analytics</a:t>
            </a:r>
            <a:r>
              <a:rPr lang="en-IN" sz="1400" dirty="0"/>
              <a:t> to communicate insights</a:t>
            </a:r>
          </a:p>
        </p:txBody>
      </p:sp>
    </p:spTree>
    <p:extLst>
      <p:ext uri="{BB962C8B-B14F-4D97-AF65-F5344CB8AC3E}">
        <p14:creationId xmlns:p14="http://schemas.microsoft.com/office/powerpoint/2010/main" val="41545087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6A3164-1553-522C-D8E8-D3BAF8D34703}"/>
              </a:ext>
            </a:extLst>
          </p:cNvPr>
          <p:cNvSpPr>
            <a:spLocks noGrp="1"/>
          </p:cNvSpPr>
          <p:nvPr>
            <p:ph type="title"/>
          </p:nvPr>
        </p:nvSpPr>
        <p:spPr/>
        <p:txBody>
          <a:bodyPr>
            <a:noAutofit/>
          </a:bodyPr>
          <a:lstStyle/>
          <a:p>
            <a:r>
              <a:rPr lang="en-US" sz="4000" b="1" dirty="0">
                <a:solidFill>
                  <a:schemeClr val="accent2">
                    <a:lumMod val="60000"/>
                    <a:lumOff val="40000"/>
                  </a:schemeClr>
                </a:solidFill>
              </a:rPr>
              <a:t>IBM CLOUD SERVICES USED</a:t>
            </a:r>
            <a:endParaRPr lang="en-IN" sz="4000" b="1" dirty="0">
              <a:solidFill>
                <a:schemeClr val="accent2">
                  <a:lumMod val="60000"/>
                  <a:lumOff val="40000"/>
                </a:schemeClr>
              </a:solidFill>
            </a:endParaRPr>
          </a:p>
        </p:txBody>
      </p:sp>
      <p:sp>
        <p:nvSpPr>
          <p:cNvPr id="4" name="Rectangle 1">
            <a:extLst>
              <a:ext uri="{FF2B5EF4-FFF2-40B4-BE49-F238E27FC236}">
                <a16:creationId xmlns:a16="http://schemas.microsoft.com/office/drawing/2014/main" id="{5F2BDC87-D100-C364-60AD-BEEEDEE9E812}"/>
              </a:ext>
            </a:extLst>
          </p:cNvPr>
          <p:cNvSpPr>
            <a:spLocks noGrp="1" noChangeArrowheads="1"/>
          </p:cNvSpPr>
          <p:nvPr>
            <p:ph idx="1"/>
          </p:nvPr>
        </p:nvSpPr>
        <p:spPr bwMode="auto">
          <a:xfrm>
            <a:off x="581192" y="2241525"/>
            <a:ext cx="10625288"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mj-lt"/>
                <a:cs typeface="Arial" panose="020B0604020202020204" pitchFamily="34" charset="0"/>
              </a:rPr>
              <a:t> IBM Cloud </a:t>
            </a:r>
            <a:r>
              <a:rPr kumimoji="0" lang="en-US" altLang="en-US" sz="1800" b="1" i="0" u="none" strike="noStrike" cap="none" normalizeH="0" baseline="0" dirty="0" err="1">
                <a:ln>
                  <a:noFill/>
                </a:ln>
                <a:solidFill>
                  <a:schemeClr val="tx1"/>
                </a:solidFill>
                <a:effectLst/>
                <a:latin typeface="+mj-lt"/>
                <a:cs typeface="Arial" panose="020B0604020202020204" pitchFamily="34" charset="0"/>
              </a:rPr>
              <a:t>Watsonx</a:t>
            </a:r>
            <a:r>
              <a:rPr kumimoji="0" lang="en-US" altLang="en-US" sz="1800" b="1" i="0" u="none" strike="noStrike" cap="none" normalizeH="0" baseline="0" dirty="0">
                <a:ln>
                  <a:noFill/>
                </a:ln>
                <a:solidFill>
                  <a:schemeClr val="tx1"/>
                </a:solidFill>
                <a:effectLst/>
                <a:latin typeface="+mj-lt"/>
                <a:cs typeface="Arial" panose="020B0604020202020204" pitchFamily="34" charset="0"/>
              </a:rPr>
              <a:t> AI Studio</a:t>
            </a:r>
            <a:br>
              <a:rPr kumimoji="0" lang="en-US" altLang="en-US" sz="1800" b="0" i="0" u="none" strike="noStrike" cap="none" normalizeH="0" baseline="0" dirty="0">
                <a:ln>
                  <a:noFill/>
                </a:ln>
                <a:solidFill>
                  <a:schemeClr val="tx1"/>
                </a:solidFill>
                <a:effectLst/>
                <a:latin typeface="+mj-lt"/>
                <a:cs typeface="Arial" panose="020B0604020202020204" pitchFamily="34" charset="0"/>
              </a:rPr>
            </a:br>
            <a:endParaRPr kumimoji="0" lang="en-US" altLang="en-US" sz="1800" b="0" i="0" u="none" strike="noStrike" cap="none" normalizeH="0" baseline="0" dirty="0">
              <a:ln>
                <a:noFill/>
              </a:ln>
              <a:solidFill>
                <a:schemeClr val="tx1"/>
              </a:solidFill>
              <a:effectLst/>
              <a:latin typeface="+mj-l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mj-lt"/>
                <a:cs typeface="Arial" panose="020B0604020202020204" pitchFamily="34" charset="0"/>
              </a:rPr>
              <a:t> IBM Cloud </a:t>
            </a:r>
            <a:r>
              <a:rPr kumimoji="0" lang="en-US" altLang="en-US" sz="1800" b="1" i="0" u="none" strike="noStrike" cap="none" normalizeH="0" baseline="0" dirty="0" err="1">
                <a:ln>
                  <a:noFill/>
                </a:ln>
                <a:solidFill>
                  <a:schemeClr val="tx1"/>
                </a:solidFill>
                <a:effectLst/>
                <a:latin typeface="+mj-lt"/>
                <a:cs typeface="Arial" panose="020B0604020202020204" pitchFamily="34" charset="0"/>
              </a:rPr>
              <a:t>Watsonx</a:t>
            </a:r>
            <a:r>
              <a:rPr kumimoji="0" lang="en-US" altLang="en-US" sz="1800" b="1" i="0" u="none" strike="noStrike" cap="none" normalizeH="0" baseline="0" dirty="0">
                <a:ln>
                  <a:noFill/>
                </a:ln>
                <a:solidFill>
                  <a:schemeClr val="tx1"/>
                </a:solidFill>
                <a:effectLst/>
                <a:latin typeface="+mj-lt"/>
                <a:cs typeface="Arial" panose="020B0604020202020204" pitchFamily="34" charset="0"/>
              </a:rPr>
              <a:t> AI Runtime</a:t>
            </a:r>
            <a:br>
              <a:rPr kumimoji="0" lang="en-US" altLang="en-US" sz="1800" b="0" i="0" u="none" strike="noStrike" cap="none" normalizeH="0" baseline="0" dirty="0">
                <a:ln>
                  <a:noFill/>
                </a:ln>
                <a:solidFill>
                  <a:schemeClr val="tx1"/>
                </a:solidFill>
                <a:effectLst/>
                <a:latin typeface="+mj-lt"/>
                <a:cs typeface="Arial" panose="020B0604020202020204" pitchFamily="34" charset="0"/>
              </a:rPr>
            </a:br>
            <a:endParaRPr kumimoji="0" lang="en-US" altLang="en-US" sz="1800" b="0" i="0" u="none" strike="noStrike" cap="none" normalizeH="0" baseline="0" dirty="0">
              <a:ln>
                <a:noFill/>
              </a:ln>
              <a:solidFill>
                <a:schemeClr val="tx1"/>
              </a:solidFill>
              <a:effectLst/>
              <a:latin typeface="+mj-lt"/>
              <a:cs typeface="Arial" panose="020B0604020202020204" pitchFamily="34" charset="0"/>
            </a:endParaRPr>
          </a:p>
          <a:p>
            <a:pPr marL="0" lvl="0" indent="0" defTabSz="914400" eaLnBrk="0" fontAlgn="base" hangingPunct="0">
              <a:lnSpc>
                <a:spcPct val="100000"/>
              </a:lnSpc>
              <a:spcBef>
                <a:spcPct val="0"/>
              </a:spcBef>
              <a:spcAft>
                <a:spcPct val="0"/>
              </a:spcAft>
              <a:buClrTx/>
              <a:buSzTx/>
              <a:buFontTx/>
              <a:buChar char="•"/>
            </a:pPr>
            <a:r>
              <a:rPr lang="en-US" sz="1800" b="1" dirty="0">
                <a:latin typeface="+mj-lt"/>
                <a:cs typeface="Arial" panose="020B0604020202020204" pitchFamily="34" charset="0"/>
              </a:rPr>
              <a:t>IBM </a:t>
            </a:r>
            <a:r>
              <a:rPr lang="en-US" sz="1800" b="1" dirty="0" err="1">
                <a:latin typeface="+mj-lt"/>
                <a:cs typeface="Arial" panose="020B0604020202020204" pitchFamily="34" charset="0"/>
              </a:rPr>
              <a:t>Watsonx</a:t>
            </a:r>
            <a:r>
              <a:rPr lang="en-US" sz="1800" b="1" dirty="0">
                <a:latin typeface="+mj-lt"/>
                <a:cs typeface="Arial" panose="020B0604020202020204" pitchFamily="34" charset="0"/>
              </a:rPr>
              <a:t> Machine Learning Auto Agent</a:t>
            </a:r>
            <a:br>
              <a:rPr lang="en-US" sz="1800" dirty="0">
                <a:latin typeface="+mj-lt"/>
                <a:cs typeface="Arial" panose="020B0604020202020204" pitchFamily="34" charset="0"/>
              </a:rPr>
            </a:br>
            <a:endParaRPr lang="en-US" sz="1800" dirty="0">
              <a:latin typeface="+mj-lt"/>
              <a:cs typeface="Arial" panose="020B0604020202020204" pitchFamily="34" charset="0"/>
            </a:endParaRPr>
          </a:p>
          <a:p>
            <a:pPr marL="0" lvl="0" indent="0" defTabSz="914400" eaLnBrk="0" fontAlgn="base" hangingPunct="0">
              <a:lnSpc>
                <a:spcPct val="100000"/>
              </a:lnSpc>
              <a:spcBef>
                <a:spcPct val="0"/>
              </a:spcBef>
              <a:spcAft>
                <a:spcPct val="0"/>
              </a:spcAft>
              <a:buClrTx/>
              <a:buSzTx/>
              <a:buFontTx/>
              <a:buChar char="•"/>
            </a:pPr>
            <a:r>
              <a:rPr lang="en-US" sz="1800" b="1" dirty="0">
                <a:latin typeface="+mj-lt"/>
                <a:cs typeface="Arial" panose="020B0604020202020204" pitchFamily="34" charset="0"/>
              </a:rPr>
              <a:t>IBM Cloud Agent Lab</a:t>
            </a:r>
            <a:endParaRPr kumimoji="0" lang="en-US" altLang="en-US" sz="1800" b="0" i="0" u="none" strike="noStrike" cap="none" normalizeH="0" baseline="0" dirty="0">
              <a:ln>
                <a:noFill/>
              </a:ln>
              <a:solidFill>
                <a:schemeClr val="tx1"/>
              </a:solidFill>
              <a:effectLst/>
              <a:latin typeface="+mj-lt"/>
              <a:cs typeface="Arial" panose="020B0604020202020204" pitchFamily="34" charset="0"/>
            </a:endParaRPr>
          </a:p>
        </p:txBody>
      </p:sp>
    </p:spTree>
    <p:extLst>
      <p:ext uri="{BB962C8B-B14F-4D97-AF65-F5344CB8AC3E}">
        <p14:creationId xmlns:p14="http://schemas.microsoft.com/office/powerpoint/2010/main" val="39633535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Result</a:t>
            </a:r>
            <a:endParaRPr lang="en-US"/>
          </a:p>
        </p:txBody>
      </p:sp>
      <p:pic>
        <p:nvPicPr>
          <p:cNvPr id="13" name="Content Placeholder 12">
            <a:extLst>
              <a:ext uri="{FF2B5EF4-FFF2-40B4-BE49-F238E27FC236}">
                <a16:creationId xmlns:a16="http://schemas.microsoft.com/office/drawing/2014/main" id="{CE75ABFF-CCB6-1AC7-1983-F18E57469816}"/>
              </a:ext>
            </a:extLst>
          </p:cNvPr>
          <p:cNvPicPr>
            <a:picLocks noGrp="1" noChangeAspect="1"/>
          </p:cNvPicPr>
          <p:nvPr>
            <p:ph idx="1"/>
          </p:nvPr>
        </p:nvPicPr>
        <p:blipFill>
          <a:blip r:embed="rId2"/>
          <a:stretch>
            <a:fillRect/>
          </a:stretch>
        </p:blipFill>
        <p:spPr>
          <a:xfrm>
            <a:off x="0" y="1301750"/>
            <a:ext cx="12192000" cy="4926330"/>
          </a:xfrm>
          <a:prstGeom prst="rect">
            <a:avLst/>
          </a:prstGeom>
        </p:spPr>
      </p:pic>
    </p:spTree>
    <p:extLst>
      <p:ext uri="{BB962C8B-B14F-4D97-AF65-F5344CB8AC3E}">
        <p14:creationId xmlns:p14="http://schemas.microsoft.com/office/powerpoint/2010/main" val="14832933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E6F4B3-3E18-0062-FC15-5CD3A55C059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3DB4F69-6831-83C9-E0CF-545B8621B472}"/>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Result</a:t>
            </a:r>
            <a:endParaRPr lang="en-US"/>
          </a:p>
        </p:txBody>
      </p:sp>
      <p:pic>
        <p:nvPicPr>
          <p:cNvPr id="6" name="Content Placeholder 5">
            <a:extLst>
              <a:ext uri="{FF2B5EF4-FFF2-40B4-BE49-F238E27FC236}">
                <a16:creationId xmlns:a16="http://schemas.microsoft.com/office/drawing/2014/main" id="{30356368-7730-BB5B-42EE-8252605F0664}"/>
              </a:ext>
            </a:extLst>
          </p:cNvPr>
          <p:cNvPicPr>
            <a:picLocks noGrp="1" noChangeAspect="1"/>
          </p:cNvPicPr>
          <p:nvPr>
            <p:ph idx="1"/>
          </p:nvPr>
        </p:nvPicPr>
        <p:blipFill>
          <a:blip r:embed="rId2"/>
          <a:stretch>
            <a:fillRect/>
          </a:stretch>
        </p:blipFill>
        <p:spPr>
          <a:xfrm>
            <a:off x="0" y="1301750"/>
            <a:ext cx="12090400" cy="5048250"/>
          </a:xfrm>
          <a:prstGeom prst="rect">
            <a:avLst/>
          </a:prstGeom>
        </p:spPr>
      </p:pic>
    </p:spTree>
    <p:extLst>
      <p:ext uri="{BB962C8B-B14F-4D97-AF65-F5344CB8AC3E}">
        <p14:creationId xmlns:p14="http://schemas.microsoft.com/office/powerpoint/2010/main" val="18472266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7128DB-C6BC-E386-5E2E-8EB0A139F64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8B1FA1C-D1F8-D6CA-60A8-AD8F29F743C7}"/>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Result</a:t>
            </a:r>
            <a:endParaRPr lang="en-US"/>
          </a:p>
        </p:txBody>
      </p:sp>
      <p:pic>
        <p:nvPicPr>
          <p:cNvPr id="6" name="Content Placeholder 5">
            <a:extLst>
              <a:ext uri="{FF2B5EF4-FFF2-40B4-BE49-F238E27FC236}">
                <a16:creationId xmlns:a16="http://schemas.microsoft.com/office/drawing/2014/main" id="{1FAC2556-BBB1-BEB6-E9B1-87AD49B077AD}"/>
              </a:ext>
            </a:extLst>
          </p:cNvPr>
          <p:cNvPicPr>
            <a:picLocks noGrp="1" noChangeAspect="1"/>
          </p:cNvPicPr>
          <p:nvPr>
            <p:ph idx="1"/>
          </p:nvPr>
        </p:nvPicPr>
        <p:blipFill>
          <a:blip r:embed="rId2"/>
          <a:stretch>
            <a:fillRect/>
          </a:stretch>
        </p:blipFill>
        <p:spPr>
          <a:xfrm>
            <a:off x="0" y="1301749"/>
            <a:ext cx="12070080" cy="5074613"/>
          </a:xfrm>
          <a:prstGeom prst="rect">
            <a:avLst/>
          </a:prstGeom>
        </p:spPr>
      </p:pic>
    </p:spTree>
    <p:extLst>
      <p:ext uri="{BB962C8B-B14F-4D97-AF65-F5344CB8AC3E}">
        <p14:creationId xmlns:p14="http://schemas.microsoft.com/office/powerpoint/2010/main" val="28913307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81AB63-8CC1-5473-AFC2-CAB42403BD5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277CB0F-0156-D2E4-7F36-C53CBD84646A}"/>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Result</a:t>
            </a:r>
            <a:endParaRPr lang="en-US"/>
          </a:p>
        </p:txBody>
      </p:sp>
      <p:pic>
        <p:nvPicPr>
          <p:cNvPr id="6" name="Content Placeholder 5">
            <a:extLst>
              <a:ext uri="{FF2B5EF4-FFF2-40B4-BE49-F238E27FC236}">
                <a16:creationId xmlns:a16="http://schemas.microsoft.com/office/drawing/2014/main" id="{D324EB85-F292-BEBF-0FE1-A84914B30D66}"/>
              </a:ext>
            </a:extLst>
          </p:cNvPr>
          <p:cNvPicPr>
            <a:picLocks noGrp="1" noChangeAspect="1"/>
          </p:cNvPicPr>
          <p:nvPr>
            <p:ph idx="1"/>
          </p:nvPr>
        </p:nvPicPr>
        <p:blipFill>
          <a:blip r:embed="rId2"/>
          <a:stretch>
            <a:fillRect/>
          </a:stretch>
        </p:blipFill>
        <p:spPr>
          <a:xfrm>
            <a:off x="0" y="1301750"/>
            <a:ext cx="12192000" cy="4936490"/>
          </a:xfrm>
          <a:prstGeom prst="rect">
            <a:avLst/>
          </a:prstGeom>
        </p:spPr>
      </p:pic>
    </p:spTree>
    <p:extLst>
      <p:ext uri="{BB962C8B-B14F-4D97-AF65-F5344CB8AC3E}">
        <p14:creationId xmlns:p14="http://schemas.microsoft.com/office/powerpoint/2010/main" val="29236441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30C104-B5BC-BDA8-2635-BDD6083D1D0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907CF9F-32D2-EB4A-82C7-69895458F3E7}"/>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Result</a:t>
            </a:r>
            <a:endParaRPr lang="en-US"/>
          </a:p>
        </p:txBody>
      </p:sp>
      <p:pic>
        <p:nvPicPr>
          <p:cNvPr id="11" name="Content Placeholder 10">
            <a:extLst>
              <a:ext uri="{FF2B5EF4-FFF2-40B4-BE49-F238E27FC236}">
                <a16:creationId xmlns:a16="http://schemas.microsoft.com/office/drawing/2014/main" id="{ECBA3749-7CFE-D77A-B2C5-F76CD0B99D9B}"/>
              </a:ext>
            </a:extLst>
          </p:cNvPr>
          <p:cNvPicPr>
            <a:picLocks noGrp="1" noChangeAspect="1"/>
          </p:cNvPicPr>
          <p:nvPr>
            <p:ph idx="1"/>
          </p:nvPr>
        </p:nvPicPr>
        <p:blipFill>
          <a:blip r:embed="rId2"/>
          <a:stretch>
            <a:fillRect/>
          </a:stretch>
        </p:blipFill>
        <p:spPr>
          <a:xfrm>
            <a:off x="193040" y="1301750"/>
            <a:ext cx="11917679" cy="5078730"/>
          </a:xfrm>
          <a:prstGeom prst="rect">
            <a:avLst/>
          </a:prstGeom>
        </p:spPr>
      </p:pic>
    </p:spTree>
    <p:extLst>
      <p:ext uri="{BB962C8B-B14F-4D97-AF65-F5344CB8AC3E}">
        <p14:creationId xmlns:p14="http://schemas.microsoft.com/office/powerpoint/2010/main" val="643321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147A73-59F8-238F-12B7-69386EC4356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0E876AD-C3A5-DA68-C725-9387835927A4}"/>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Result</a:t>
            </a:r>
            <a:endParaRPr lang="en-US"/>
          </a:p>
        </p:txBody>
      </p:sp>
      <p:pic>
        <p:nvPicPr>
          <p:cNvPr id="6" name="Content Placeholder 5">
            <a:extLst>
              <a:ext uri="{FF2B5EF4-FFF2-40B4-BE49-F238E27FC236}">
                <a16:creationId xmlns:a16="http://schemas.microsoft.com/office/drawing/2014/main" id="{90079E8F-3F07-2B30-038F-8038A42E7614}"/>
              </a:ext>
            </a:extLst>
          </p:cNvPr>
          <p:cNvPicPr>
            <a:picLocks noGrp="1" noChangeAspect="1"/>
          </p:cNvPicPr>
          <p:nvPr>
            <p:ph idx="1"/>
          </p:nvPr>
        </p:nvPicPr>
        <p:blipFill>
          <a:blip r:embed="rId2"/>
          <a:stretch>
            <a:fillRect/>
          </a:stretch>
        </p:blipFill>
        <p:spPr>
          <a:xfrm>
            <a:off x="284480" y="1301750"/>
            <a:ext cx="11907519" cy="5007610"/>
          </a:xfrm>
          <a:prstGeom prst="rect">
            <a:avLst/>
          </a:prstGeom>
        </p:spPr>
      </p:pic>
    </p:spTree>
    <p:extLst>
      <p:ext uri="{BB962C8B-B14F-4D97-AF65-F5344CB8AC3E}">
        <p14:creationId xmlns:p14="http://schemas.microsoft.com/office/powerpoint/2010/main" val="27942682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42C6F-4C6F-47D0-5B90-21E00F39682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852FB3A-B7D9-AA53-E005-F32BACA83060}"/>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Result</a:t>
            </a:r>
            <a:endParaRPr lang="en-US"/>
          </a:p>
        </p:txBody>
      </p:sp>
      <p:pic>
        <p:nvPicPr>
          <p:cNvPr id="6" name="Content Placeholder 5">
            <a:extLst>
              <a:ext uri="{FF2B5EF4-FFF2-40B4-BE49-F238E27FC236}">
                <a16:creationId xmlns:a16="http://schemas.microsoft.com/office/drawing/2014/main" id="{4B12235B-2A52-6E24-336A-33C412EA17F9}"/>
              </a:ext>
            </a:extLst>
          </p:cNvPr>
          <p:cNvPicPr>
            <a:picLocks noGrp="1" noChangeAspect="1"/>
          </p:cNvPicPr>
          <p:nvPr>
            <p:ph idx="1"/>
          </p:nvPr>
        </p:nvPicPr>
        <p:blipFill>
          <a:blip r:embed="rId2"/>
          <a:stretch>
            <a:fillRect/>
          </a:stretch>
        </p:blipFill>
        <p:spPr>
          <a:xfrm>
            <a:off x="325120" y="1301750"/>
            <a:ext cx="11866880" cy="4966970"/>
          </a:xfrm>
          <a:prstGeom prst="rect">
            <a:avLst/>
          </a:prstGeom>
        </p:spPr>
      </p:pic>
    </p:spTree>
    <p:extLst>
      <p:ext uri="{BB962C8B-B14F-4D97-AF65-F5344CB8AC3E}">
        <p14:creationId xmlns:p14="http://schemas.microsoft.com/office/powerpoint/2010/main" val="15938084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DB2F88-5CC1-F0E4-B109-1A895A8760C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345AF29-2510-298E-C1F9-5592EFC65EF0}"/>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Result</a:t>
            </a:r>
            <a:endParaRPr lang="en-US"/>
          </a:p>
        </p:txBody>
      </p:sp>
      <p:pic>
        <p:nvPicPr>
          <p:cNvPr id="6" name="Content Placeholder 5">
            <a:extLst>
              <a:ext uri="{FF2B5EF4-FFF2-40B4-BE49-F238E27FC236}">
                <a16:creationId xmlns:a16="http://schemas.microsoft.com/office/drawing/2014/main" id="{F5DFA07C-996D-4742-54AE-0D5D1C3A0D72}"/>
              </a:ext>
            </a:extLst>
          </p:cNvPr>
          <p:cNvPicPr>
            <a:picLocks noGrp="1" noChangeAspect="1"/>
          </p:cNvPicPr>
          <p:nvPr>
            <p:ph idx="1"/>
          </p:nvPr>
        </p:nvPicPr>
        <p:blipFill>
          <a:blip r:embed="rId2"/>
          <a:stretch>
            <a:fillRect/>
          </a:stretch>
        </p:blipFill>
        <p:spPr>
          <a:xfrm>
            <a:off x="223520" y="1301750"/>
            <a:ext cx="11968480" cy="5109210"/>
          </a:xfrm>
          <a:prstGeom prst="rect">
            <a:avLst/>
          </a:prstGeom>
        </p:spPr>
      </p:pic>
    </p:spTree>
    <p:extLst>
      <p:ext uri="{BB962C8B-B14F-4D97-AF65-F5344CB8AC3E}">
        <p14:creationId xmlns:p14="http://schemas.microsoft.com/office/powerpoint/2010/main" val="649546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E6B629-7174-8AB2-B3FA-6728BB74A09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6985AA4-BC59-F3EC-E132-8D9C09A920BB}"/>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Result</a:t>
            </a:r>
            <a:endParaRPr lang="en-US"/>
          </a:p>
        </p:txBody>
      </p:sp>
      <p:pic>
        <p:nvPicPr>
          <p:cNvPr id="6" name="Content Placeholder 5">
            <a:extLst>
              <a:ext uri="{FF2B5EF4-FFF2-40B4-BE49-F238E27FC236}">
                <a16:creationId xmlns:a16="http://schemas.microsoft.com/office/drawing/2014/main" id="{4E5717A6-AA01-41D0-43F8-CCB4442C6E82}"/>
              </a:ext>
            </a:extLst>
          </p:cNvPr>
          <p:cNvPicPr>
            <a:picLocks noGrp="1" noChangeAspect="1"/>
          </p:cNvPicPr>
          <p:nvPr>
            <p:ph idx="1"/>
          </p:nvPr>
        </p:nvPicPr>
        <p:blipFill>
          <a:blip r:embed="rId2"/>
          <a:stretch>
            <a:fillRect/>
          </a:stretch>
        </p:blipFill>
        <p:spPr>
          <a:xfrm>
            <a:off x="0" y="1301750"/>
            <a:ext cx="12192000" cy="5068570"/>
          </a:xfrm>
          <a:prstGeom prst="rect">
            <a:avLst/>
          </a:prstGeom>
        </p:spPr>
      </p:pic>
    </p:spTree>
    <p:extLst>
      <p:ext uri="{BB962C8B-B14F-4D97-AF65-F5344CB8AC3E}">
        <p14:creationId xmlns:p14="http://schemas.microsoft.com/office/powerpoint/2010/main" val="4301213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6577A7-0F1A-6747-0E57-099B78E8799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57F9D17-1AB5-7D0E-7B24-23562FDE0359}"/>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Result</a:t>
            </a:r>
            <a:endParaRPr lang="en-US"/>
          </a:p>
        </p:txBody>
      </p:sp>
      <p:pic>
        <p:nvPicPr>
          <p:cNvPr id="6" name="Content Placeholder 5">
            <a:extLst>
              <a:ext uri="{FF2B5EF4-FFF2-40B4-BE49-F238E27FC236}">
                <a16:creationId xmlns:a16="http://schemas.microsoft.com/office/drawing/2014/main" id="{BE8CA9E2-3DD3-8B8D-E749-947E0F6D8056}"/>
              </a:ext>
            </a:extLst>
          </p:cNvPr>
          <p:cNvPicPr>
            <a:picLocks noGrp="1" noChangeAspect="1"/>
          </p:cNvPicPr>
          <p:nvPr>
            <p:ph idx="1"/>
          </p:nvPr>
        </p:nvPicPr>
        <p:blipFill>
          <a:blip r:embed="rId2"/>
          <a:stretch>
            <a:fillRect/>
          </a:stretch>
        </p:blipFill>
        <p:spPr>
          <a:xfrm>
            <a:off x="101600" y="1301750"/>
            <a:ext cx="12090400" cy="4987290"/>
          </a:xfrm>
          <a:prstGeom prst="rect">
            <a:avLst/>
          </a:prstGeom>
        </p:spPr>
      </p:pic>
    </p:spTree>
    <p:extLst>
      <p:ext uri="{BB962C8B-B14F-4D97-AF65-F5344CB8AC3E}">
        <p14:creationId xmlns:p14="http://schemas.microsoft.com/office/powerpoint/2010/main" val="22468629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55B663-97D3-2744-6EB6-67EF1EF7F41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F378380-F9B4-9B0A-B337-EF3CF10BC666}"/>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Result</a:t>
            </a:r>
            <a:endParaRPr lang="en-US"/>
          </a:p>
        </p:txBody>
      </p:sp>
      <p:pic>
        <p:nvPicPr>
          <p:cNvPr id="6" name="Content Placeholder 5">
            <a:extLst>
              <a:ext uri="{FF2B5EF4-FFF2-40B4-BE49-F238E27FC236}">
                <a16:creationId xmlns:a16="http://schemas.microsoft.com/office/drawing/2014/main" id="{4FFC0100-A8BD-A57F-2B66-098EF60D7DE0}"/>
              </a:ext>
            </a:extLst>
          </p:cNvPr>
          <p:cNvPicPr>
            <a:picLocks noGrp="1" noChangeAspect="1"/>
          </p:cNvPicPr>
          <p:nvPr>
            <p:ph idx="1"/>
          </p:nvPr>
        </p:nvPicPr>
        <p:blipFill>
          <a:blip r:embed="rId2"/>
          <a:stretch>
            <a:fillRect/>
          </a:stretch>
        </p:blipFill>
        <p:spPr>
          <a:xfrm>
            <a:off x="132080" y="1301750"/>
            <a:ext cx="12059920" cy="5027930"/>
          </a:xfrm>
          <a:prstGeom prst="rect">
            <a:avLst/>
          </a:prstGeom>
        </p:spPr>
      </p:pic>
    </p:spTree>
    <p:extLst>
      <p:ext uri="{BB962C8B-B14F-4D97-AF65-F5344CB8AC3E}">
        <p14:creationId xmlns:p14="http://schemas.microsoft.com/office/powerpoint/2010/main" val="21131197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74C2F1-6AF7-7305-8230-1B3396CBF15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309E82F-AF33-FBC5-C651-1CB37DCB2AB1}"/>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Result</a:t>
            </a:r>
            <a:endParaRPr lang="en-US"/>
          </a:p>
        </p:txBody>
      </p:sp>
      <p:pic>
        <p:nvPicPr>
          <p:cNvPr id="11" name="Content Placeholder 10">
            <a:extLst>
              <a:ext uri="{FF2B5EF4-FFF2-40B4-BE49-F238E27FC236}">
                <a16:creationId xmlns:a16="http://schemas.microsoft.com/office/drawing/2014/main" id="{B63D5626-7FB6-E2B6-8833-394AAA8B8B65}"/>
              </a:ext>
            </a:extLst>
          </p:cNvPr>
          <p:cNvPicPr>
            <a:picLocks noGrp="1" noChangeAspect="1"/>
          </p:cNvPicPr>
          <p:nvPr>
            <p:ph idx="1"/>
          </p:nvPr>
        </p:nvPicPr>
        <p:blipFill>
          <a:blip r:embed="rId2"/>
          <a:stretch>
            <a:fillRect/>
          </a:stretch>
        </p:blipFill>
        <p:spPr>
          <a:xfrm>
            <a:off x="0" y="1301750"/>
            <a:ext cx="12192000" cy="5027930"/>
          </a:xfrm>
          <a:prstGeom prst="rect">
            <a:avLst/>
          </a:prstGeom>
        </p:spPr>
      </p:pic>
    </p:spTree>
    <p:extLst>
      <p:ext uri="{BB962C8B-B14F-4D97-AF65-F5344CB8AC3E}">
        <p14:creationId xmlns:p14="http://schemas.microsoft.com/office/powerpoint/2010/main" val="32575268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C7AB84-F04C-D100-446C-E53A8E7E153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A8902DD-4AAA-740F-CB46-2252E24E20AA}"/>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Result</a:t>
            </a:r>
            <a:endParaRPr lang="en-US"/>
          </a:p>
        </p:txBody>
      </p:sp>
      <p:pic>
        <p:nvPicPr>
          <p:cNvPr id="6" name="Content Placeholder 5">
            <a:extLst>
              <a:ext uri="{FF2B5EF4-FFF2-40B4-BE49-F238E27FC236}">
                <a16:creationId xmlns:a16="http://schemas.microsoft.com/office/drawing/2014/main" id="{BF52C438-EE22-3D67-E939-CCA75FCDD843}"/>
              </a:ext>
            </a:extLst>
          </p:cNvPr>
          <p:cNvPicPr>
            <a:picLocks noGrp="1" noChangeAspect="1"/>
          </p:cNvPicPr>
          <p:nvPr>
            <p:ph idx="1"/>
          </p:nvPr>
        </p:nvPicPr>
        <p:blipFill>
          <a:blip r:embed="rId2"/>
          <a:stretch>
            <a:fillRect/>
          </a:stretch>
        </p:blipFill>
        <p:spPr>
          <a:xfrm>
            <a:off x="0" y="1301750"/>
            <a:ext cx="12192000" cy="5099050"/>
          </a:xfrm>
          <a:prstGeom prst="rect">
            <a:avLst/>
          </a:prstGeom>
        </p:spPr>
      </p:pic>
    </p:spTree>
    <p:extLst>
      <p:ext uri="{BB962C8B-B14F-4D97-AF65-F5344CB8AC3E}">
        <p14:creationId xmlns:p14="http://schemas.microsoft.com/office/powerpoint/2010/main" val="838858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CB9C74-6AE8-2963-BD1B-019E2758A1A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28418AE-2BCA-0F12-D1D9-B3D74BEA9A5B}"/>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Result</a:t>
            </a:r>
            <a:endParaRPr lang="en-US"/>
          </a:p>
        </p:txBody>
      </p:sp>
      <p:pic>
        <p:nvPicPr>
          <p:cNvPr id="6" name="Content Placeholder 5">
            <a:extLst>
              <a:ext uri="{FF2B5EF4-FFF2-40B4-BE49-F238E27FC236}">
                <a16:creationId xmlns:a16="http://schemas.microsoft.com/office/drawing/2014/main" id="{C0083A81-7A5D-AD31-4545-CB2FEF98BF08}"/>
              </a:ext>
            </a:extLst>
          </p:cNvPr>
          <p:cNvPicPr>
            <a:picLocks noGrp="1" noChangeAspect="1"/>
          </p:cNvPicPr>
          <p:nvPr>
            <p:ph idx="1"/>
          </p:nvPr>
        </p:nvPicPr>
        <p:blipFill>
          <a:blip r:embed="rId2"/>
          <a:stretch>
            <a:fillRect/>
          </a:stretch>
        </p:blipFill>
        <p:spPr>
          <a:xfrm>
            <a:off x="0" y="1301750"/>
            <a:ext cx="12192000" cy="5017770"/>
          </a:xfrm>
          <a:prstGeom prst="rect">
            <a:avLst/>
          </a:prstGeom>
        </p:spPr>
      </p:pic>
    </p:spTree>
    <p:extLst>
      <p:ext uri="{BB962C8B-B14F-4D97-AF65-F5344CB8AC3E}">
        <p14:creationId xmlns:p14="http://schemas.microsoft.com/office/powerpoint/2010/main" val="35671860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7895B3-7A42-6BE3-DCC4-7AB9C3802BB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EB7CCF0-451E-DE23-C8EC-8DBA5F0B21AA}"/>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Result</a:t>
            </a:r>
            <a:endParaRPr lang="en-US"/>
          </a:p>
        </p:txBody>
      </p:sp>
      <p:pic>
        <p:nvPicPr>
          <p:cNvPr id="6" name="Content Placeholder 5">
            <a:extLst>
              <a:ext uri="{FF2B5EF4-FFF2-40B4-BE49-F238E27FC236}">
                <a16:creationId xmlns:a16="http://schemas.microsoft.com/office/drawing/2014/main" id="{835E7CCD-CF1A-F2EB-DF7C-FD4C67C3E6D5}"/>
              </a:ext>
            </a:extLst>
          </p:cNvPr>
          <p:cNvPicPr>
            <a:picLocks noGrp="1" noChangeAspect="1"/>
          </p:cNvPicPr>
          <p:nvPr>
            <p:ph idx="1"/>
          </p:nvPr>
        </p:nvPicPr>
        <p:blipFill>
          <a:blip r:embed="rId2"/>
          <a:stretch>
            <a:fillRect/>
          </a:stretch>
        </p:blipFill>
        <p:spPr>
          <a:xfrm>
            <a:off x="0" y="1301750"/>
            <a:ext cx="12192000" cy="4966970"/>
          </a:xfrm>
          <a:prstGeom prst="rect">
            <a:avLst/>
          </a:prstGeom>
        </p:spPr>
      </p:pic>
    </p:spTree>
    <p:extLst>
      <p:ext uri="{BB962C8B-B14F-4D97-AF65-F5344CB8AC3E}">
        <p14:creationId xmlns:p14="http://schemas.microsoft.com/office/powerpoint/2010/main" val="22419777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Conclusion</a:t>
            </a:r>
            <a:endParaRPr lang="en-US"/>
          </a:p>
        </p:txBody>
      </p:sp>
      <p:sp>
        <p:nvSpPr>
          <p:cNvPr id="2" name="Content Placeholder 1">
            <a:extLst>
              <a:ext uri="{FF2B5EF4-FFF2-40B4-BE49-F238E27FC236}">
                <a16:creationId xmlns:a16="http://schemas.microsoft.com/office/drawing/2014/main" id="{005E46AB-32C4-4B57-A2B1-50738A64BE1B}"/>
              </a:ext>
            </a:extLst>
          </p:cNvPr>
          <p:cNvSpPr>
            <a:spLocks noGrp="1"/>
          </p:cNvSpPr>
          <p:nvPr>
            <p:ph idx="1"/>
          </p:nvPr>
        </p:nvSpPr>
        <p:spPr/>
        <p:txBody>
          <a:bodyPr>
            <a:normAutofit/>
          </a:bodyPr>
          <a:lstStyle/>
          <a:p>
            <a:pPr marL="305435" indent="-305435"/>
            <a:r>
              <a:rPr lang="en-US" sz="2000" dirty="0"/>
              <a:t>Access to safe and improved drinking water varies significantly across regions and socio-economic groups in India.</a:t>
            </a:r>
            <a:br>
              <a:rPr lang="en-US" sz="2000" dirty="0"/>
            </a:br>
            <a:r>
              <a:rPr lang="en-US" sz="2000" dirty="0"/>
              <a:t>Data-driven analysis plays a crucial role in identifying key factors influencing water accessibility, including infrastructure, clean energy usage, and migration patterns.</a:t>
            </a:r>
            <a:br>
              <a:rPr lang="en-US" sz="2000" dirty="0"/>
            </a:br>
            <a:r>
              <a:rPr lang="en-US" sz="2000" dirty="0"/>
              <a:t>Targeted policies, focused infrastructure investments, and evidence-based planning are essential to achieve </a:t>
            </a:r>
            <a:r>
              <a:rPr lang="en-US" sz="2000" b="1" dirty="0"/>
              <a:t>SDG 6 (Clean Water and Sanitation)</a:t>
            </a:r>
            <a:r>
              <a:rPr lang="en-US" sz="2000" dirty="0"/>
              <a:t> and ensure equitable access to safe drinking water for all by </a:t>
            </a:r>
            <a:r>
              <a:rPr lang="en-US" sz="2000" b="1" dirty="0"/>
              <a:t>2030</a:t>
            </a:r>
            <a:r>
              <a:rPr lang="en-US" sz="2000" dirty="0"/>
              <a:t>.</a:t>
            </a:r>
            <a:endParaRPr lang="en-IN" sz="2000" dirty="0"/>
          </a:p>
        </p:txBody>
      </p:sp>
    </p:spTree>
    <p:extLst>
      <p:ext uri="{BB962C8B-B14F-4D97-AF65-F5344CB8AC3E}">
        <p14:creationId xmlns:p14="http://schemas.microsoft.com/office/powerpoint/2010/main" val="31833151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A620B16B-31BB-6707-56F4-4A6E2CF22BF7}"/>
              </a:ext>
            </a:extLst>
          </p:cNvPr>
          <p:cNvPicPr>
            <a:picLocks noGrp="1" noChangeAspect="1"/>
          </p:cNvPicPr>
          <p:nvPr>
            <p:ph idx="1"/>
          </p:nvPr>
        </p:nvPicPr>
        <p:blipFill>
          <a:blip r:embed="rId2"/>
          <a:stretch>
            <a:fillRect/>
          </a:stretch>
        </p:blipFill>
        <p:spPr>
          <a:xfrm>
            <a:off x="535670" y="1618795"/>
            <a:ext cx="5395602" cy="4152085"/>
          </a:xfrm>
          <a:prstGeom prst="rect">
            <a:avLst/>
          </a:prstGeom>
        </p:spPr>
      </p:pic>
      <p:sp>
        <p:nvSpPr>
          <p:cNvPr id="5" name="Title 4">
            <a:extLst>
              <a:ext uri="{FF2B5EF4-FFF2-40B4-BE49-F238E27FC236}">
                <a16:creationId xmlns:a16="http://schemas.microsoft.com/office/drawing/2014/main" id="{3F968F13-9AC4-7120-7ACD-9F752C767D5D}"/>
              </a:ext>
            </a:extLst>
          </p:cNvPr>
          <p:cNvSpPr txBox="1">
            <a:spLocks/>
          </p:cNvSpPr>
          <p:nvPr/>
        </p:nvSpPr>
        <p:spPr>
          <a:xfrm>
            <a:off x="535670" y="844659"/>
            <a:ext cx="11029616" cy="530296"/>
          </a:xfrm>
          <a:prstGeom prst="rect">
            <a:avLst/>
          </a:prstGeom>
        </p:spPr>
        <p:txBody>
          <a:bodyPr vert="horz" lIns="91440" tIns="45720" rIns="91440" bIns="45720" rtlCol="0" anchor="b">
            <a:normAutofit fontScale="75000" lnSpcReduction="2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400" b="1" dirty="0">
                <a:solidFill>
                  <a:schemeClr val="accent1"/>
                </a:solidFill>
                <a:latin typeface="Arial"/>
                <a:cs typeface="Arial"/>
              </a:rPr>
              <a:t>CERTIFICATE</a:t>
            </a:r>
          </a:p>
        </p:txBody>
      </p:sp>
      <p:pic>
        <p:nvPicPr>
          <p:cNvPr id="7" name="Picture 6">
            <a:extLst>
              <a:ext uri="{FF2B5EF4-FFF2-40B4-BE49-F238E27FC236}">
                <a16:creationId xmlns:a16="http://schemas.microsoft.com/office/drawing/2014/main" id="{9E57F586-CE44-C706-7E94-CA28A373DDEE}"/>
              </a:ext>
            </a:extLst>
          </p:cNvPr>
          <p:cNvPicPr>
            <a:picLocks noChangeAspect="1"/>
          </p:cNvPicPr>
          <p:nvPr/>
        </p:nvPicPr>
        <p:blipFill>
          <a:blip r:embed="rId3"/>
          <a:stretch>
            <a:fillRect/>
          </a:stretch>
        </p:blipFill>
        <p:spPr>
          <a:xfrm>
            <a:off x="6170409" y="1618795"/>
            <a:ext cx="5263574" cy="4040997"/>
          </a:xfrm>
          <a:prstGeom prst="rect">
            <a:avLst/>
          </a:prstGeom>
        </p:spPr>
      </p:pic>
    </p:spTree>
    <p:extLst>
      <p:ext uri="{BB962C8B-B14F-4D97-AF65-F5344CB8AC3E}">
        <p14:creationId xmlns:p14="http://schemas.microsoft.com/office/powerpoint/2010/main" val="6148826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603895-25C0-958C-2BEB-50071BA63D4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3CB0ADB-AB1D-2760-1D00-B64466E5A1C8}"/>
              </a:ext>
            </a:extLst>
          </p:cNvPr>
          <p:cNvSpPr txBox="1">
            <a:spLocks/>
          </p:cNvSpPr>
          <p:nvPr/>
        </p:nvSpPr>
        <p:spPr>
          <a:xfrm>
            <a:off x="535670" y="844659"/>
            <a:ext cx="11029616" cy="530296"/>
          </a:xfrm>
          <a:prstGeom prst="rect">
            <a:avLst/>
          </a:prstGeom>
        </p:spPr>
        <p:txBody>
          <a:bodyPr vert="horz" lIns="91440" tIns="45720" rIns="91440" bIns="45720" rtlCol="0" anchor="b">
            <a:normAutofit fontScale="75000" lnSpcReduction="2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400" b="1" dirty="0">
                <a:solidFill>
                  <a:schemeClr val="accent1"/>
                </a:solidFill>
                <a:latin typeface="Arial"/>
                <a:cs typeface="Arial"/>
              </a:rPr>
              <a:t>CERTIFICATE</a:t>
            </a:r>
          </a:p>
        </p:txBody>
      </p:sp>
      <p:pic>
        <p:nvPicPr>
          <p:cNvPr id="8" name="Content Placeholder 7">
            <a:extLst>
              <a:ext uri="{FF2B5EF4-FFF2-40B4-BE49-F238E27FC236}">
                <a16:creationId xmlns:a16="http://schemas.microsoft.com/office/drawing/2014/main" id="{7EFB55FF-703C-BAD9-FBC0-DEA0D8550847}"/>
              </a:ext>
            </a:extLst>
          </p:cNvPr>
          <p:cNvPicPr>
            <a:picLocks noGrp="1" noChangeAspect="1"/>
          </p:cNvPicPr>
          <p:nvPr>
            <p:ph idx="1"/>
          </p:nvPr>
        </p:nvPicPr>
        <p:blipFill>
          <a:blip r:embed="rId2"/>
          <a:stretch>
            <a:fillRect/>
          </a:stretch>
        </p:blipFill>
        <p:spPr>
          <a:xfrm rot="5400000">
            <a:off x="1387293" y="785514"/>
            <a:ext cx="3583725" cy="5286972"/>
          </a:xfrm>
          <a:prstGeom prst="rect">
            <a:avLst/>
          </a:prstGeom>
        </p:spPr>
      </p:pic>
      <p:pic>
        <p:nvPicPr>
          <p:cNvPr id="10" name="Picture 9">
            <a:extLst>
              <a:ext uri="{FF2B5EF4-FFF2-40B4-BE49-F238E27FC236}">
                <a16:creationId xmlns:a16="http://schemas.microsoft.com/office/drawing/2014/main" id="{D0B2F300-F429-0BC7-9C6A-F928B43B946F}"/>
              </a:ext>
            </a:extLst>
          </p:cNvPr>
          <p:cNvPicPr>
            <a:picLocks noChangeAspect="1"/>
          </p:cNvPicPr>
          <p:nvPr/>
        </p:nvPicPr>
        <p:blipFill>
          <a:blip r:embed="rId3"/>
          <a:stretch>
            <a:fillRect/>
          </a:stretch>
        </p:blipFill>
        <p:spPr>
          <a:xfrm rot="5400000">
            <a:off x="6895174" y="899411"/>
            <a:ext cx="4172532" cy="5506218"/>
          </a:xfrm>
          <a:prstGeom prst="rect">
            <a:avLst/>
          </a:prstGeom>
        </p:spPr>
      </p:pic>
    </p:spTree>
    <p:extLst>
      <p:ext uri="{BB962C8B-B14F-4D97-AF65-F5344CB8AC3E}">
        <p14:creationId xmlns:p14="http://schemas.microsoft.com/office/powerpoint/2010/main" val="36126474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BE4CA82-64EC-4D4E-A5E5-3EBB66E7B24C}"/>
              </a:ext>
            </a:extLst>
          </p:cNvPr>
          <p:cNvSpPr>
            <a:spLocks noGrp="1"/>
          </p:cNvSpPr>
          <p:nvPr>
            <p:ph type="title"/>
          </p:nvPr>
        </p:nvSpPr>
        <p:spPr>
          <a:xfrm>
            <a:off x="1463041" y="2766218"/>
            <a:ext cx="9298744" cy="1325563"/>
          </a:xfrm>
        </p:spPr>
        <p:txBody>
          <a:bodyPr/>
          <a:lstStyle/>
          <a:p>
            <a:pPr algn="ctr"/>
            <a:r>
              <a:rPr lang="en-US" b="1">
                <a:solidFill>
                  <a:srgbClr val="002060"/>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4066255318"/>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9162bd5b-4ed9-4da3-b376-05204580ba3f" xsi:nil="true"/>
    <_activity xmlns="9162bd5b-4ed9-4da3-b376-05204580ba3f"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7" ma:contentTypeDescription="Create a new document." ma:contentTypeScope="" ma:versionID="55a158675e089c6a85ab0f83b89e1a15">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b35f082308864fa161c4a0a9eca35eff"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element ref="ns3:MediaServiceObjectDetectorVersion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D289AE2-D2AE-49D1-AFAC-3A79F6794255}">
  <ds:schemaRefs>
    <ds:schemaRef ds:uri="9162bd5b-4ed9-4da3-b376-05204580ba3f"/>
    <ds:schemaRef ds:uri="c0fa2617-96bd-425d-8578-e93563fe37c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927BD4C1-B6B1-4715-ABF9-E660A51A4EA0}">
  <ds:schemaRefs>
    <ds:schemaRef ds:uri="http://schemas.microsoft.com/sharepoint/v3/contenttype/forms"/>
  </ds:schemaRefs>
</ds:datastoreItem>
</file>

<file path=customXml/itemProps3.xml><?xml version="1.0" encoding="utf-8"?>
<ds:datastoreItem xmlns:ds="http://schemas.openxmlformats.org/officeDocument/2006/customXml" ds:itemID="{6E816721-11E4-4989-8472-AB5A7EC20404}">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Future forward</Template>
  <TotalTime>8</TotalTime>
  <Words>878</Words>
  <Application>Microsoft Office PowerPoint</Application>
  <PresentationFormat>Widescreen</PresentationFormat>
  <Paragraphs>69</Paragraphs>
  <Slides>26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Arial</vt:lpstr>
      <vt:lpstr>Calibri</vt:lpstr>
      <vt:lpstr>Calibri Light</vt:lpstr>
      <vt:lpstr>Franklin Gothic Book</vt:lpstr>
      <vt:lpstr>Franklin Gothic Demi</vt:lpstr>
      <vt:lpstr>Wingdings 2</vt:lpstr>
      <vt:lpstr>DividendVTI</vt:lpstr>
      <vt:lpstr>Improved Source of Drinking Water </vt:lpstr>
      <vt:lpstr>OUTLINE</vt:lpstr>
      <vt:lpstr>Problem Statement</vt:lpstr>
      <vt:lpstr>Proposed Solution</vt:lpstr>
      <vt:lpstr>System  Approach</vt:lpstr>
      <vt:lpstr>Algorithm &amp; Deployment</vt:lpstr>
      <vt:lpstr>IBM CLOUD SERVICES USED</vt:lpstr>
      <vt:lpstr>Result</vt:lpstr>
      <vt:lpstr>Result</vt:lpstr>
      <vt:lpstr>Result</vt:lpstr>
      <vt:lpstr>Result</vt:lpstr>
      <vt:lpstr>Result</vt:lpstr>
      <vt:lpstr>Result</vt:lpstr>
      <vt:lpstr>Result</vt:lpstr>
      <vt:lpstr>Result</vt:lpstr>
      <vt:lpstr>Result</vt:lpstr>
      <vt:lpstr>Result</vt:lpstr>
      <vt:lpstr>Result</vt:lpstr>
      <vt:lpstr>Result</vt:lpstr>
      <vt:lpstr>Result</vt:lpstr>
      <vt:lpstr>Result</vt:lpstr>
      <vt:lpstr>Result</vt:lpstr>
      <vt:lpstr>Conclusion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SkillsBuild Partner Update template</dc:title>
  <dc:creator>Vaibhav Ostwal</dc:creator>
  <cp:lastModifiedBy>Lakshya kumar</cp:lastModifiedBy>
  <cp:revision>32</cp:revision>
  <dcterms:created xsi:type="dcterms:W3CDTF">2021-05-26T16:50:10Z</dcterms:created>
  <dcterms:modified xsi:type="dcterms:W3CDTF">2026-02-07T06:49:41Z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